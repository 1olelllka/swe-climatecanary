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ns" charset="1" panose="000000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Canva Sans" charset="1" panose="020B0503030501040103"/>
      <p:regular r:id="rId19"/>
    </p:embeddedFont>
    <p:embeddedFont>
      <p:font typeface="Canva Sans Bold" charset="1" panose="020B0803030501040103"/>
      <p:regular r:id="rId20"/>
    </p:embeddedFont>
    <p:embeddedFont>
      <p:font typeface="Open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2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5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704283" y="1694557"/>
            <a:ext cx="5876304" cy="11627276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7419098" y="4406610"/>
            <a:ext cx="4851690" cy="4851690"/>
          </a:xfrm>
          <a:custGeom>
            <a:avLst/>
            <a:gdLst/>
            <a:ahLst/>
            <a:cxnLst/>
            <a:rect r="r" b="b" t="t" l="l"/>
            <a:pathLst>
              <a:path h="4851690" w="4851690">
                <a:moveTo>
                  <a:pt x="0" y="0"/>
                </a:moveTo>
                <a:lnTo>
                  <a:pt x="4851690" y="0"/>
                </a:lnTo>
                <a:lnTo>
                  <a:pt x="4851690" y="4851690"/>
                </a:lnTo>
                <a:lnTo>
                  <a:pt x="0" y="4851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995932" y="4406610"/>
            <a:ext cx="4851690" cy="4851690"/>
          </a:xfrm>
          <a:custGeom>
            <a:avLst/>
            <a:gdLst/>
            <a:ahLst/>
            <a:cxnLst/>
            <a:rect r="r" b="b" t="t" l="l"/>
            <a:pathLst>
              <a:path h="4851690" w="4851690">
                <a:moveTo>
                  <a:pt x="0" y="0"/>
                </a:moveTo>
                <a:lnTo>
                  <a:pt x="4851691" y="0"/>
                </a:lnTo>
                <a:lnTo>
                  <a:pt x="4851691" y="4851690"/>
                </a:lnTo>
                <a:lnTo>
                  <a:pt x="0" y="4851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394727" y="5309790"/>
            <a:ext cx="3183015" cy="2819922"/>
            <a:chOff x="0" y="0"/>
            <a:chExt cx="651517" cy="5771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1517" cy="577197"/>
            </a:xfrm>
            <a:custGeom>
              <a:avLst/>
              <a:gdLst/>
              <a:ahLst/>
              <a:cxnLst/>
              <a:rect r="r" b="b" t="t" l="l"/>
              <a:pathLst>
                <a:path h="577197" w="651517">
                  <a:moveTo>
                    <a:pt x="121613" y="0"/>
                  </a:moveTo>
                  <a:lnTo>
                    <a:pt x="529904" y="0"/>
                  </a:lnTo>
                  <a:cubicBezTo>
                    <a:pt x="562157" y="0"/>
                    <a:pt x="593090" y="12813"/>
                    <a:pt x="615897" y="35620"/>
                  </a:cubicBezTo>
                  <a:cubicBezTo>
                    <a:pt x="638704" y="58426"/>
                    <a:pt x="651517" y="89359"/>
                    <a:pt x="651517" y="121613"/>
                  </a:cubicBezTo>
                  <a:lnTo>
                    <a:pt x="651517" y="455584"/>
                  </a:lnTo>
                  <a:cubicBezTo>
                    <a:pt x="651517" y="522749"/>
                    <a:pt x="597069" y="577197"/>
                    <a:pt x="529904" y="577197"/>
                  </a:cubicBezTo>
                  <a:lnTo>
                    <a:pt x="121613" y="577197"/>
                  </a:lnTo>
                  <a:cubicBezTo>
                    <a:pt x="89359" y="577197"/>
                    <a:pt x="58426" y="564384"/>
                    <a:pt x="35620" y="541577"/>
                  </a:cubicBezTo>
                  <a:cubicBezTo>
                    <a:pt x="12813" y="518770"/>
                    <a:pt x="0" y="487838"/>
                    <a:pt x="0" y="455584"/>
                  </a:cubicBezTo>
                  <a:lnTo>
                    <a:pt x="0" y="121613"/>
                  </a:lnTo>
                  <a:cubicBezTo>
                    <a:pt x="0" y="54448"/>
                    <a:pt x="54448" y="0"/>
                    <a:pt x="12161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51517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020955" y="5632808"/>
            <a:ext cx="1810448" cy="1810448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039108" y="508149"/>
            <a:ext cx="544658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Universität Innsbruck · Informatik - Software Engineering · G4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940842" y="517674"/>
            <a:ext cx="9784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Oleh Sichko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79975" y="517674"/>
            <a:ext cx="1735295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Matthias Tiefenthaler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92889" y="517674"/>
            <a:ext cx="1016875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Joshua Rebay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33360" y="517674"/>
            <a:ext cx="14595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Jakob Salomon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27286" y="1958676"/>
            <a:ext cx="6467441" cy="210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83"/>
              </a:lnSpc>
              <a:spcBef>
                <a:spcPct val="0"/>
              </a:spcBef>
            </a:pPr>
            <a:r>
              <a:rPr lang="en-US" sz="11845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Climate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27286" y="3171195"/>
            <a:ext cx="5907800" cy="2137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83"/>
              </a:lnSpc>
              <a:spcBef>
                <a:spcPct val="0"/>
              </a:spcBef>
            </a:pPr>
            <a:r>
              <a:rPr lang="en-US" b="true" sz="11845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Canary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86379" y="7460570"/>
            <a:ext cx="2399712" cy="29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6"/>
              </a:lnSpc>
              <a:spcBef>
                <a:spcPct val="0"/>
              </a:spcBef>
            </a:pPr>
            <a:r>
              <a:rPr lang="en-US" b="true" sz="1662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datenschutzkonform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27286" y="6054082"/>
            <a:ext cx="5240294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Ein dreistufiges System zur unmittelbaren Beobachtung und langfristigen Analyse des Raumklimas.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05119" y="517674"/>
            <a:ext cx="14595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Diana Postupaieva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080642" y="7255008"/>
            <a:ext cx="1012443" cy="2003292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1023" t="0" r="-1023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273684" y="4002267"/>
            <a:ext cx="2626359" cy="2626359"/>
          </a:xfrm>
          <a:custGeom>
            <a:avLst/>
            <a:gdLst/>
            <a:ahLst/>
            <a:cxnLst/>
            <a:rect r="r" b="b" t="t" l="l"/>
            <a:pathLst>
              <a:path h="2626359" w="2626359">
                <a:moveTo>
                  <a:pt x="0" y="0"/>
                </a:moveTo>
                <a:lnTo>
                  <a:pt x="2626359" y="0"/>
                </a:lnTo>
                <a:lnTo>
                  <a:pt x="2626359" y="2626358"/>
                </a:lnTo>
                <a:lnTo>
                  <a:pt x="0" y="2626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2586864" y="2910022"/>
            <a:ext cx="0" cy="1636199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 flipV="true">
            <a:off x="2586864" y="6211274"/>
            <a:ext cx="19050" cy="821925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835734" y="830381"/>
            <a:ext cx="3502259" cy="2626694"/>
          </a:xfrm>
          <a:custGeom>
            <a:avLst/>
            <a:gdLst/>
            <a:ahLst/>
            <a:cxnLst/>
            <a:rect r="r" b="b" t="t" l="l"/>
            <a:pathLst>
              <a:path h="2626694" w="3502259">
                <a:moveTo>
                  <a:pt x="0" y="0"/>
                </a:moveTo>
                <a:lnTo>
                  <a:pt x="3502259" y="0"/>
                </a:lnTo>
                <a:lnTo>
                  <a:pt x="3502259" y="2626694"/>
                </a:lnTo>
                <a:lnTo>
                  <a:pt x="0" y="262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623146" y="994585"/>
            <a:ext cx="10315102" cy="73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6"/>
              </a:lnSpc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Dreistufiges IoT-System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33222" y="2871922"/>
            <a:ext cx="736931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Live-Feedback über eine LED-Ampel und ein LCD-Display direkt am Arbeitsplatz.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33222" y="4828358"/>
            <a:ext cx="7369317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Intelligentes Edge-Gerät zur Überwachung und lokalen Speicherung von Klimawerten mit datenschutzkonformer Verarbeitung und automatischer Warnmeldung bei Grenzwertüberschreitung.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</a:pPr>
          </a:p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8233222" y="7502274"/>
            <a:ext cx="7369317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Schneller, rollenbasierter Zugriff auf Klimadaten und ein intelligentes Managementsystem.</a:t>
            </a:r>
          </a:p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645232" y="3418975"/>
            <a:ext cx="44785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BLE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45232" y="6281280"/>
            <a:ext cx="139452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REST API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F2020"/>
                </a:solidFill>
                <a:latin typeface="Canva Sans"/>
                <a:ea typeface="Canva Sans"/>
                <a:cs typeface="Canva Sans"/>
                <a:sym typeface="Canva Sans"/>
              </a:rPr>
              <a:t>Websockets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050926" y="2135911"/>
            <a:ext cx="164472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Sensorstation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23435" y="4992231"/>
            <a:ext cx="149971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Raspberry Pi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89867" y="7849096"/>
            <a:ext cx="96684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97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Webapp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20229" y="4470746"/>
            <a:ext cx="8252837" cy="825283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599236" y="270678"/>
            <a:ext cx="2961571" cy="5859977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71" r="0" b="-571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646532" y="4191266"/>
            <a:ext cx="2961571" cy="5859977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32" r="0" b="-432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73409" y="3710399"/>
            <a:ext cx="1042538" cy="47625"/>
            <a:chOff x="0" y="0"/>
            <a:chExt cx="274578" cy="125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220" y="5322935"/>
            <a:ext cx="677751" cy="67775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940115" y="5322935"/>
            <a:ext cx="677751" cy="67775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4220" y="7539462"/>
            <a:ext cx="677751" cy="677751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940115" y="7539462"/>
            <a:ext cx="677751" cy="677751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15694670" y="270678"/>
            <a:ext cx="2961571" cy="5859977"/>
            <a:chOff x="0" y="0"/>
            <a:chExt cx="2620010" cy="51841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2" r="0" b="-22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573409" y="2057698"/>
            <a:ext cx="4982921" cy="1408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Datenschutz "First"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861508" y="5303885"/>
            <a:ext cx="2243577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Für Büros werden Daten in der Web-App erst gespeichert und ausgewertet, wenn mindestens fünf Personen anwesend sind.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1005040" y="5498933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887403" y="5303885"/>
            <a:ext cx="2243577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Das Management erhält ausschließlich anonymisierte und aggregierte Daten.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5030935" y="5498933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861508" y="7520412"/>
            <a:ext cx="2243577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Systemadministratoren haben keinen Zugriff auf Klimadaten; Gebäudeadministratoren sehen keine Nutzerprofile.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1005040" y="7715459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887403" y="7520412"/>
            <a:ext cx="253531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Berechtigungsbasiert statt rollenbasiert, einfach zu verwalten, mit klarer Trennung der Rechte und hoher Flexibilität.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5030935" y="7715459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861508" y="4870796"/>
            <a:ext cx="281820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Schutz der Privatsphäre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887403" y="4870796"/>
            <a:ext cx="321653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Rollenbasierte Transparenz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861508" y="7083155"/>
            <a:ext cx="278463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Strikte Gewaltenteilung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887403" y="7083155"/>
            <a:ext cx="333279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Modulare Rechteverwaltung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47856" y="2357931"/>
            <a:ext cx="3265920" cy="32659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65771" y="0"/>
                    <a:pt x="782051" y="6743"/>
                    <a:pt x="794054" y="18746"/>
                  </a:cubicBezTo>
                  <a:cubicBezTo>
                    <a:pt x="806057" y="30749"/>
                    <a:pt x="812800" y="47029"/>
                    <a:pt x="812800" y="64004"/>
                  </a:cubicBezTo>
                  <a:lnTo>
                    <a:pt x="812800" y="748796"/>
                  </a:lnTo>
                  <a:cubicBezTo>
                    <a:pt x="812800" y="765771"/>
                    <a:pt x="806057" y="782051"/>
                    <a:pt x="794054" y="794054"/>
                  </a:cubicBezTo>
                  <a:cubicBezTo>
                    <a:pt x="782051" y="806057"/>
                    <a:pt x="765771" y="812800"/>
                    <a:pt x="748796" y="812800"/>
                  </a:cubicBezTo>
                  <a:lnTo>
                    <a:pt x="64004" y="812800"/>
                  </a:lnTo>
                  <a:cubicBezTo>
                    <a:pt x="47029" y="812800"/>
                    <a:pt x="30749" y="806057"/>
                    <a:pt x="18746" y="794054"/>
                  </a:cubicBezTo>
                  <a:cubicBezTo>
                    <a:pt x="6743" y="782051"/>
                    <a:pt x="0" y="765771"/>
                    <a:pt x="0" y="748796"/>
                  </a:cubicBezTo>
                  <a:lnTo>
                    <a:pt x="0" y="64004"/>
                  </a:lnTo>
                  <a:cubicBezTo>
                    <a:pt x="0" y="47029"/>
                    <a:pt x="6743" y="30749"/>
                    <a:pt x="18746" y="18746"/>
                  </a:cubicBezTo>
                  <a:cubicBezTo>
                    <a:pt x="30749" y="6743"/>
                    <a:pt x="47029" y="0"/>
                    <a:pt x="6400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502684" y="6929473"/>
            <a:ext cx="254960" cy="135129"/>
          </a:xfrm>
          <a:custGeom>
            <a:avLst/>
            <a:gdLst/>
            <a:ahLst/>
            <a:cxnLst/>
            <a:rect r="r" b="b" t="t" l="l"/>
            <a:pathLst>
              <a:path h="135129" w="254960">
                <a:moveTo>
                  <a:pt x="0" y="0"/>
                </a:moveTo>
                <a:lnTo>
                  <a:pt x="254959" y="0"/>
                </a:lnTo>
                <a:lnTo>
                  <a:pt x="254959" y="135128"/>
                </a:lnTo>
                <a:lnTo>
                  <a:pt x="0" y="135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28340" y="4180973"/>
            <a:ext cx="1992860" cy="55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3"/>
              </a:lnSpc>
              <a:spcBef>
                <a:spcPct val="0"/>
              </a:spcBef>
            </a:pPr>
            <a:r>
              <a:rPr lang="en-US" b="true" sz="158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Fehlertoleratante Pi-Verbindung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890874" y="6282157"/>
            <a:ext cx="217460" cy="115254"/>
          </a:xfrm>
          <a:custGeom>
            <a:avLst/>
            <a:gdLst/>
            <a:ahLst/>
            <a:cxnLst/>
            <a:rect r="r" b="b" t="t" l="l"/>
            <a:pathLst>
              <a:path h="115254" w="217460">
                <a:moveTo>
                  <a:pt x="0" y="0"/>
                </a:moveTo>
                <a:lnTo>
                  <a:pt x="217460" y="0"/>
                </a:lnTo>
                <a:lnTo>
                  <a:pt x="217460" y="115254"/>
                </a:lnTo>
                <a:lnTo>
                  <a:pt x="0" y="115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03576" y="4210362"/>
            <a:ext cx="1992860" cy="55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3"/>
              </a:lnSpc>
              <a:spcBef>
                <a:spcPct val="0"/>
              </a:spcBef>
            </a:pPr>
            <a:r>
              <a:rPr lang="en-US" b="true" sz="158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83,3% Testabdeckung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495380" y="2357931"/>
            <a:ext cx="3265920" cy="326592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65771" y="0"/>
                    <a:pt x="782051" y="6743"/>
                    <a:pt x="794054" y="18746"/>
                  </a:cubicBezTo>
                  <a:cubicBezTo>
                    <a:pt x="806057" y="30749"/>
                    <a:pt x="812800" y="47029"/>
                    <a:pt x="812800" y="64004"/>
                  </a:cubicBezTo>
                  <a:lnTo>
                    <a:pt x="812800" y="748796"/>
                  </a:lnTo>
                  <a:cubicBezTo>
                    <a:pt x="812800" y="765771"/>
                    <a:pt x="806057" y="782051"/>
                    <a:pt x="794054" y="794054"/>
                  </a:cubicBezTo>
                  <a:cubicBezTo>
                    <a:pt x="782051" y="806057"/>
                    <a:pt x="765771" y="812800"/>
                    <a:pt x="748796" y="812800"/>
                  </a:cubicBezTo>
                  <a:lnTo>
                    <a:pt x="64004" y="812800"/>
                  </a:lnTo>
                  <a:cubicBezTo>
                    <a:pt x="47029" y="812800"/>
                    <a:pt x="30749" y="806057"/>
                    <a:pt x="18746" y="794054"/>
                  </a:cubicBezTo>
                  <a:cubicBezTo>
                    <a:pt x="6743" y="782051"/>
                    <a:pt x="0" y="765771"/>
                    <a:pt x="0" y="748796"/>
                  </a:cubicBezTo>
                  <a:lnTo>
                    <a:pt x="0" y="64004"/>
                  </a:lnTo>
                  <a:cubicBezTo>
                    <a:pt x="0" y="47029"/>
                    <a:pt x="6743" y="30749"/>
                    <a:pt x="18746" y="18746"/>
                  </a:cubicBezTo>
                  <a:cubicBezTo>
                    <a:pt x="30749" y="6743"/>
                    <a:pt x="47029" y="0"/>
                    <a:pt x="6400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97203" y="2357931"/>
            <a:ext cx="3265920" cy="326592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65771" y="0"/>
                    <a:pt x="782051" y="6743"/>
                    <a:pt x="794054" y="18746"/>
                  </a:cubicBezTo>
                  <a:cubicBezTo>
                    <a:pt x="806057" y="30749"/>
                    <a:pt x="812800" y="47029"/>
                    <a:pt x="812800" y="64004"/>
                  </a:cubicBezTo>
                  <a:lnTo>
                    <a:pt x="812800" y="748796"/>
                  </a:lnTo>
                  <a:cubicBezTo>
                    <a:pt x="812800" y="765771"/>
                    <a:pt x="806057" y="782051"/>
                    <a:pt x="794054" y="794054"/>
                  </a:cubicBezTo>
                  <a:cubicBezTo>
                    <a:pt x="782051" y="806057"/>
                    <a:pt x="765771" y="812800"/>
                    <a:pt x="748796" y="812800"/>
                  </a:cubicBezTo>
                  <a:lnTo>
                    <a:pt x="64004" y="812800"/>
                  </a:lnTo>
                  <a:cubicBezTo>
                    <a:pt x="47029" y="812800"/>
                    <a:pt x="30749" y="806057"/>
                    <a:pt x="18746" y="794054"/>
                  </a:cubicBezTo>
                  <a:cubicBezTo>
                    <a:pt x="6743" y="782051"/>
                    <a:pt x="0" y="765771"/>
                    <a:pt x="0" y="748796"/>
                  </a:cubicBezTo>
                  <a:lnTo>
                    <a:pt x="0" y="64004"/>
                  </a:lnTo>
                  <a:cubicBezTo>
                    <a:pt x="0" y="47029"/>
                    <a:pt x="6743" y="30749"/>
                    <a:pt x="18746" y="18746"/>
                  </a:cubicBezTo>
                  <a:cubicBezTo>
                    <a:pt x="30749" y="6743"/>
                    <a:pt x="47029" y="0"/>
                    <a:pt x="6400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7856" y="5992380"/>
            <a:ext cx="3265920" cy="326592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65771" y="0"/>
                    <a:pt x="782051" y="6743"/>
                    <a:pt x="794054" y="18746"/>
                  </a:cubicBezTo>
                  <a:cubicBezTo>
                    <a:pt x="806057" y="30749"/>
                    <a:pt x="812800" y="47029"/>
                    <a:pt x="812800" y="64004"/>
                  </a:cubicBezTo>
                  <a:lnTo>
                    <a:pt x="812800" y="748796"/>
                  </a:lnTo>
                  <a:cubicBezTo>
                    <a:pt x="812800" y="765771"/>
                    <a:pt x="806057" y="782051"/>
                    <a:pt x="794054" y="794054"/>
                  </a:cubicBezTo>
                  <a:cubicBezTo>
                    <a:pt x="782051" y="806057"/>
                    <a:pt x="765771" y="812800"/>
                    <a:pt x="748796" y="812800"/>
                  </a:cubicBezTo>
                  <a:lnTo>
                    <a:pt x="64004" y="812800"/>
                  </a:lnTo>
                  <a:cubicBezTo>
                    <a:pt x="47029" y="812800"/>
                    <a:pt x="30749" y="806057"/>
                    <a:pt x="18746" y="794054"/>
                  </a:cubicBezTo>
                  <a:cubicBezTo>
                    <a:pt x="6743" y="782051"/>
                    <a:pt x="0" y="765771"/>
                    <a:pt x="0" y="748796"/>
                  </a:cubicBezTo>
                  <a:lnTo>
                    <a:pt x="0" y="64004"/>
                  </a:lnTo>
                  <a:cubicBezTo>
                    <a:pt x="0" y="47029"/>
                    <a:pt x="6743" y="30749"/>
                    <a:pt x="18746" y="18746"/>
                  </a:cubicBezTo>
                  <a:cubicBezTo>
                    <a:pt x="30749" y="6743"/>
                    <a:pt x="47029" y="0"/>
                    <a:pt x="6400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495380" y="5992380"/>
            <a:ext cx="3265920" cy="326592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65771" y="0"/>
                    <a:pt x="782051" y="6743"/>
                    <a:pt x="794054" y="18746"/>
                  </a:cubicBezTo>
                  <a:cubicBezTo>
                    <a:pt x="806057" y="30749"/>
                    <a:pt x="812800" y="47029"/>
                    <a:pt x="812800" y="64004"/>
                  </a:cubicBezTo>
                  <a:lnTo>
                    <a:pt x="812800" y="748796"/>
                  </a:lnTo>
                  <a:cubicBezTo>
                    <a:pt x="812800" y="765771"/>
                    <a:pt x="806057" y="782051"/>
                    <a:pt x="794054" y="794054"/>
                  </a:cubicBezTo>
                  <a:cubicBezTo>
                    <a:pt x="782051" y="806057"/>
                    <a:pt x="765771" y="812800"/>
                    <a:pt x="748796" y="812800"/>
                  </a:cubicBezTo>
                  <a:lnTo>
                    <a:pt x="64004" y="812800"/>
                  </a:lnTo>
                  <a:cubicBezTo>
                    <a:pt x="47029" y="812800"/>
                    <a:pt x="30749" y="806057"/>
                    <a:pt x="18746" y="794054"/>
                  </a:cubicBezTo>
                  <a:cubicBezTo>
                    <a:pt x="6743" y="782051"/>
                    <a:pt x="0" y="765771"/>
                    <a:pt x="0" y="748796"/>
                  </a:cubicBezTo>
                  <a:lnTo>
                    <a:pt x="0" y="64004"/>
                  </a:lnTo>
                  <a:cubicBezTo>
                    <a:pt x="0" y="47029"/>
                    <a:pt x="6743" y="30749"/>
                    <a:pt x="18746" y="18746"/>
                  </a:cubicBezTo>
                  <a:cubicBezTo>
                    <a:pt x="30749" y="6743"/>
                    <a:pt x="47029" y="0"/>
                    <a:pt x="6400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040489" y="5992380"/>
            <a:ext cx="3265920" cy="326592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004" y="0"/>
                  </a:moveTo>
                  <a:lnTo>
                    <a:pt x="748796" y="0"/>
                  </a:lnTo>
                  <a:cubicBezTo>
                    <a:pt x="765771" y="0"/>
                    <a:pt x="782051" y="6743"/>
                    <a:pt x="794054" y="18746"/>
                  </a:cubicBezTo>
                  <a:cubicBezTo>
                    <a:pt x="806057" y="30749"/>
                    <a:pt x="812800" y="47029"/>
                    <a:pt x="812800" y="64004"/>
                  </a:cubicBezTo>
                  <a:lnTo>
                    <a:pt x="812800" y="748796"/>
                  </a:lnTo>
                  <a:cubicBezTo>
                    <a:pt x="812800" y="765771"/>
                    <a:pt x="806057" y="782051"/>
                    <a:pt x="794054" y="794054"/>
                  </a:cubicBezTo>
                  <a:cubicBezTo>
                    <a:pt x="782051" y="806057"/>
                    <a:pt x="765771" y="812800"/>
                    <a:pt x="748796" y="812800"/>
                  </a:cubicBezTo>
                  <a:lnTo>
                    <a:pt x="64004" y="812800"/>
                  </a:lnTo>
                  <a:cubicBezTo>
                    <a:pt x="47029" y="812800"/>
                    <a:pt x="30749" y="806057"/>
                    <a:pt x="18746" y="794054"/>
                  </a:cubicBezTo>
                  <a:cubicBezTo>
                    <a:pt x="6743" y="782051"/>
                    <a:pt x="0" y="765771"/>
                    <a:pt x="0" y="748796"/>
                  </a:cubicBezTo>
                  <a:lnTo>
                    <a:pt x="0" y="64004"/>
                  </a:lnTo>
                  <a:cubicBezTo>
                    <a:pt x="0" y="47029"/>
                    <a:pt x="6743" y="30749"/>
                    <a:pt x="18746" y="18746"/>
                  </a:cubicBezTo>
                  <a:cubicBezTo>
                    <a:pt x="30749" y="6743"/>
                    <a:pt x="47029" y="0"/>
                    <a:pt x="6400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12496694" y="4901818"/>
            <a:ext cx="5292878" cy="10472870"/>
            <a:chOff x="0" y="0"/>
            <a:chExt cx="2620010" cy="51841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2" r="0" b="-22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12682186" y="939395"/>
            <a:ext cx="4851690" cy="4851690"/>
          </a:xfrm>
          <a:custGeom>
            <a:avLst/>
            <a:gdLst/>
            <a:ahLst/>
            <a:cxnLst/>
            <a:rect r="r" b="b" t="t" l="l"/>
            <a:pathLst>
              <a:path h="4851690" w="4851690">
                <a:moveTo>
                  <a:pt x="0" y="0"/>
                </a:moveTo>
                <a:lnTo>
                  <a:pt x="4851690" y="0"/>
                </a:lnTo>
                <a:lnTo>
                  <a:pt x="4851690" y="4851690"/>
                </a:lnTo>
                <a:lnTo>
                  <a:pt x="0" y="48516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1999"/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326242" y="1515684"/>
            <a:ext cx="3183015" cy="2819922"/>
            <a:chOff x="0" y="0"/>
            <a:chExt cx="651517" cy="57719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1517" cy="577197"/>
            </a:xfrm>
            <a:custGeom>
              <a:avLst/>
              <a:gdLst/>
              <a:ahLst/>
              <a:cxnLst/>
              <a:rect r="r" b="b" t="t" l="l"/>
              <a:pathLst>
                <a:path h="577197" w="651517">
                  <a:moveTo>
                    <a:pt x="121613" y="0"/>
                  </a:moveTo>
                  <a:lnTo>
                    <a:pt x="529904" y="0"/>
                  </a:lnTo>
                  <a:cubicBezTo>
                    <a:pt x="562157" y="0"/>
                    <a:pt x="593090" y="12813"/>
                    <a:pt x="615897" y="35620"/>
                  </a:cubicBezTo>
                  <a:cubicBezTo>
                    <a:pt x="638704" y="58426"/>
                    <a:pt x="651517" y="89359"/>
                    <a:pt x="651517" y="121613"/>
                  </a:cubicBezTo>
                  <a:lnTo>
                    <a:pt x="651517" y="455584"/>
                  </a:lnTo>
                  <a:cubicBezTo>
                    <a:pt x="651517" y="522749"/>
                    <a:pt x="597069" y="577197"/>
                    <a:pt x="529904" y="577197"/>
                  </a:cubicBezTo>
                  <a:lnTo>
                    <a:pt x="121613" y="577197"/>
                  </a:lnTo>
                  <a:cubicBezTo>
                    <a:pt x="89359" y="577197"/>
                    <a:pt x="58426" y="564384"/>
                    <a:pt x="35620" y="541577"/>
                  </a:cubicBezTo>
                  <a:cubicBezTo>
                    <a:pt x="12813" y="518770"/>
                    <a:pt x="0" y="487838"/>
                    <a:pt x="0" y="455584"/>
                  </a:cubicBezTo>
                  <a:lnTo>
                    <a:pt x="0" y="121613"/>
                  </a:lnTo>
                  <a:cubicBezTo>
                    <a:pt x="0" y="54448"/>
                    <a:pt x="54448" y="0"/>
                    <a:pt x="12161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51517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42" id="4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008214" y="1863862"/>
            <a:ext cx="1810448" cy="1810448"/>
          </a:xfrm>
          <a:prstGeom prst="rect">
            <a:avLst/>
          </a:prstGeom>
        </p:spPr>
      </p:pic>
      <p:sp>
        <p:nvSpPr>
          <p:cNvPr name="TextBox 43" id="43"/>
          <p:cNvSpPr txBox="true"/>
          <p:nvPr/>
        </p:nvSpPr>
        <p:spPr>
          <a:xfrm rot="0">
            <a:off x="1039108" y="517674"/>
            <a:ext cx="15477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Studio Shodwe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9108" y="990600"/>
            <a:ext cx="10851694" cy="73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Ausfallsicherheit &amp; Qualität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29757" y="3510429"/>
            <a:ext cx="2646499" cy="92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4"/>
              </a:lnSpc>
              <a:spcBef>
                <a:spcPct val="0"/>
              </a:spcBef>
            </a:pPr>
            <a:r>
              <a:rPr lang="en-US" b="true" sz="1788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</a:t>
            </a:r>
            <a:r>
              <a:rPr lang="en-US" b="true" sz="1788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o-Retry (bis zu 5×), danach manuelle Wiederherstellung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800429" y="3336665"/>
            <a:ext cx="2655822" cy="155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4"/>
              </a:lnSpc>
              <a:spcBef>
                <a:spcPct val="0"/>
              </a:spcBef>
            </a:pPr>
            <a:r>
              <a:rPr lang="en-US" b="true" sz="1788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</a:t>
            </a:r>
            <a:r>
              <a:rPr lang="en-US" b="true" sz="1788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okale SQLite-Datenbank und Buffer verhindern Datenverlust bei Ausfällen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290509" y="3668630"/>
            <a:ext cx="2679309" cy="61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4"/>
              </a:lnSpc>
              <a:spcBef>
                <a:spcPct val="0"/>
              </a:spcBef>
            </a:pPr>
            <a:r>
              <a:rPr lang="en-US" b="true" sz="1788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</a:t>
            </a:r>
            <a:r>
              <a:rPr lang="en-US" b="true" sz="1788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omatisches Re-Sync bei Wiederverbindung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82074" y="7129314"/>
            <a:ext cx="2209580" cy="92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4"/>
              </a:lnSpc>
              <a:spcBef>
                <a:spcPct val="0"/>
              </a:spcBef>
            </a:pPr>
            <a:r>
              <a:rPr lang="en-US" b="true" sz="1788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Vollständiges Err</a:t>
            </a:r>
            <a:r>
              <a:rPr lang="en-US" b="true" sz="1788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or-Logging zur Nachverfolgung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023550" y="6968462"/>
            <a:ext cx="2209580" cy="124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4"/>
              </a:lnSpc>
              <a:spcBef>
                <a:spcPct val="0"/>
              </a:spcBef>
            </a:pPr>
            <a:r>
              <a:rPr lang="en-US" b="true" sz="1788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Offline</a:t>
            </a:r>
            <a:r>
              <a:rPr lang="en-US" b="true" sz="1788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-/Online-Status für Raspberry Pi &amp; Arduino in Echtzeit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525373" y="6990831"/>
            <a:ext cx="2209580" cy="124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4"/>
              </a:lnSpc>
              <a:spcBef>
                <a:spcPct val="0"/>
              </a:spcBef>
            </a:pPr>
            <a:r>
              <a:rPr lang="en-US" b="true" sz="1788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Schn</a:t>
            </a:r>
            <a:r>
              <a:rPr lang="en-US" b="true" sz="1788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elle DB-Zugriffe durch Indizes und Unique Constraints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713583" y="3679673"/>
            <a:ext cx="2399712" cy="29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6"/>
              </a:lnSpc>
              <a:spcBef>
                <a:spcPct val="0"/>
              </a:spcBef>
            </a:pPr>
            <a:r>
              <a:rPr lang="en-US" b="true" sz="1662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Sonar Qube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7431" y="1898389"/>
            <a:ext cx="1042538" cy="47625"/>
            <a:chOff x="0" y="0"/>
            <a:chExt cx="274578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889505" y="2793210"/>
            <a:ext cx="3503313" cy="6931907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4995028" y="2440915"/>
            <a:ext cx="2547369" cy="2547369"/>
          </a:xfrm>
          <a:custGeom>
            <a:avLst/>
            <a:gdLst/>
            <a:ahLst/>
            <a:cxnLst/>
            <a:rect r="r" b="b" t="t" l="l"/>
            <a:pathLst>
              <a:path h="2547369" w="2547369">
                <a:moveTo>
                  <a:pt x="0" y="0"/>
                </a:moveTo>
                <a:lnTo>
                  <a:pt x="2547369" y="0"/>
                </a:lnTo>
                <a:lnTo>
                  <a:pt x="2547369" y="2547369"/>
                </a:lnTo>
                <a:lnTo>
                  <a:pt x="0" y="25473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H="true">
            <a:off x="10304814" y="3553117"/>
            <a:ext cx="825604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8754269" y="2793210"/>
            <a:ext cx="1356537" cy="2038511"/>
          </a:xfrm>
          <a:custGeom>
            <a:avLst/>
            <a:gdLst/>
            <a:ahLst/>
            <a:cxnLst/>
            <a:rect r="r" b="b" t="t" l="l"/>
            <a:pathLst>
              <a:path h="2038511" w="1356537">
                <a:moveTo>
                  <a:pt x="0" y="0"/>
                </a:moveTo>
                <a:lnTo>
                  <a:pt x="1356536" y="0"/>
                </a:lnTo>
                <a:lnTo>
                  <a:pt x="1356536" y="2038511"/>
                </a:lnTo>
                <a:lnTo>
                  <a:pt x="0" y="20385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471892" y="2912381"/>
            <a:ext cx="1576755" cy="1281471"/>
          </a:xfrm>
          <a:custGeom>
            <a:avLst/>
            <a:gdLst/>
            <a:ahLst/>
            <a:cxnLst/>
            <a:rect r="r" b="b" t="t" l="l"/>
            <a:pathLst>
              <a:path h="1281471" w="1576755">
                <a:moveTo>
                  <a:pt x="0" y="0"/>
                </a:moveTo>
                <a:lnTo>
                  <a:pt x="1576755" y="0"/>
                </a:lnTo>
                <a:lnTo>
                  <a:pt x="1576755" y="1281472"/>
                </a:lnTo>
                <a:lnTo>
                  <a:pt x="0" y="12814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3531686" y="437457"/>
            <a:ext cx="3727614" cy="7375726"/>
            <a:chOff x="0" y="0"/>
            <a:chExt cx="2620010" cy="518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432" r="0" b="-432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AutoShape 29" id="29"/>
          <p:cNvSpPr/>
          <p:nvPr/>
        </p:nvSpPr>
        <p:spPr>
          <a:xfrm flipV="true">
            <a:off x="7650749" y="3571594"/>
            <a:ext cx="995168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30" id="30"/>
          <p:cNvSpPr txBox="true"/>
          <p:nvPr/>
        </p:nvSpPr>
        <p:spPr>
          <a:xfrm rot="0">
            <a:off x="507431" y="990600"/>
            <a:ext cx="11085592" cy="73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36"/>
              </a:lnSpc>
              <a:spcBef>
                <a:spcPct val="0"/>
              </a:spcBef>
            </a:pPr>
            <a:r>
              <a:rPr lang="en-US" b="true" sz="4560" strike="noStrike" u="non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Live data monitoring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09623" y="5940723"/>
            <a:ext cx="816792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06060"/>
                </a:solidFill>
                <a:latin typeface="Poppins Bold"/>
                <a:ea typeface="Poppins Bold"/>
                <a:cs typeface="Poppins Bold"/>
                <a:sym typeface="Poppins Bold"/>
              </a:rPr>
              <a:t>Aktuelle Warnungen und Klimadaten für jeden Raum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509623" y="6744633"/>
            <a:ext cx="816792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06060"/>
                </a:solidFill>
                <a:latin typeface="Poppins Bold"/>
                <a:ea typeface="Poppins Bold"/>
                <a:cs typeface="Poppins Bold"/>
                <a:sym typeface="Poppins Bold"/>
              </a:rPr>
              <a:t>Dynamische Warnungen pro Abteilung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509623" y="7543908"/>
            <a:ext cx="364853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06060"/>
                </a:solidFill>
                <a:latin typeface="Poppins Bold"/>
                <a:ea typeface="Poppins Bold"/>
                <a:cs typeface="Poppins Bold"/>
                <a:sym typeface="Poppins Bold"/>
              </a:rPr>
              <a:t>Datenschutzkonform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734656" y="3195623"/>
            <a:ext cx="758329" cy="24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01"/>
              </a:lnSpc>
              <a:spcBef>
                <a:spcPct val="0"/>
              </a:spcBef>
            </a:pPr>
            <a:r>
              <a:rPr lang="en-US" b="true" sz="135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REST API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066306" y="2179859"/>
            <a:ext cx="732461" cy="484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1"/>
              </a:lnSpc>
            </a:pPr>
            <a:r>
              <a:rPr lang="en-US" sz="135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WEBAPP</a:t>
            </a:r>
          </a:p>
          <a:p>
            <a:pPr algn="ctr" marL="0" indent="0" lvl="0">
              <a:lnSpc>
                <a:spcPts val="1901"/>
              </a:lnSpc>
              <a:spcBef>
                <a:spcPct val="0"/>
              </a:spcBef>
            </a:pPr>
            <a:r>
              <a:rPr lang="en-US" b="true" sz="135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08216" y="3195622"/>
            <a:ext cx="1069668" cy="24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01"/>
              </a:lnSpc>
              <a:spcBef>
                <a:spcPct val="0"/>
              </a:spcBef>
            </a:pPr>
            <a:r>
              <a:rPr lang="en-US" b="true" sz="135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WEBSOCKET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509623" y="8347818"/>
            <a:ext cx="753902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606060"/>
                </a:solidFill>
                <a:latin typeface="Poppins Bold"/>
                <a:ea typeface="Poppins Bold"/>
                <a:cs typeface="Poppins Bold"/>
                <a:sym typeface="Poppins Bold"/>
              </a:rPr>
              <a:t>Echtzeitkommunikation mit &lt;100 ms Latenz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642533" y="5274750"/>
            <a:ext cx="4026488" cy="7967099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6536527" y="601996"/>
            <a:ext cx="3040836" cy="6016817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990" r="0" b="-99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893585" y="3390968"/>
            <a:ext cx="1042538" cy="47625"/>
            <a:chOff x="0" y="0"/>
            <a:chExt cx="274578" cy="125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440858" y="601996"/>
            <a:ext cx="5095669" cy="5260046"/>
          </a:xfrm>
          <a:custGeom>
            <a:avLst/>
            <a:gdLst/>
            <a:ahLst/>
            <a:cxnLst/>
            <a:rect r="r" b="b" t="t" l="l"/>
            <a:pathLst>
              <a:path h="5260046" w="5095669">
                <a:moveTo>
                  <a:pt x="0" y="0"/>
                </a:moveTo>
                <a:lnTo>
                  <a:pt x="5095669" y="0"/>
                </a:lnTo>
                <a:lnTo>
                  <a:pt x="5095669" y="5260045"/>
                </a:lnTo>
                <a:lnTo>
                  <a:pt x="0" y="52600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893585" y="2500267"/>
            <a:ext cx="5598214" cy="73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Automatisierung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56612" y="8181266"/>
            <a:ext cx="11381718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606060"/>
                </a:solidFill>
                <a:latin typeface="Poppins Bold"/>
                <a:ea typeface="Poppins Bold"/>
                <a:cs typeface="Poppins Bold"/>
                <a:sym typeface="Poppins Bold"/>
              </a:rPr>
              <a:t>Redis-basierte Ein-/Ausstempelsimulation per Button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Eigenständiges Plug-and-Play-Modul ohne zusätzliche Integration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72055" y="6216858"/>
            <a:ext cx="5703927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06060"/>
                </a:solidFill>
                <a:latin typeface="Poppins Bold"/>
                <a:ea typeface="Poppins Bold"/>
                <a:cs typeface="Poppins Bold"/>
                <a:sym typeface="Poppins Bold"/>
              </a:rPr>
              <a:t>Hintergrundaggregation von Klimadaten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06060"/>
                </a:solidFill>
                <a:latin typeface="Poppins Bold"/>
                <a:ea typeface="Poppins Bold"/>
                <a:cs typeface="Poppins Bold"/>
                <a:sym typeface="Poppins Bold"/>
              </a:rPr>
              <a:t>(täglich &amp; wöchentlich)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72055" y="4454346"/>
            <a:ext cx="475958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06060"/>
                </a:solidFill>
                <a:latin typeface="Poppins Bold"/>
                <a:ea typeface="Poppins Bold"/>
                <a:cs typeface="Poppins Bold"/>
                <a:sym typeface="Poppins Bold"/>
              </a:rPr>
              <a:t>Berechnung von Abteilungstrends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06060"/>
                </a:solidFill>
                <a:latin typeface="Poppins Bold"/>
                <a:ea typeface="Poppins Bold"/>
                <a:cs typeface="Poppins Bold"/>
                <a:sym typeface="Poppins Bold"/>
              </a:rPr>
              <a:t>auf Basis der Tagesaggregation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651" y="5334000"/>
            <a:ext cx="18320651" cy="4953000"/>
            <a:chOff x="0" y="0"/>
            <a:chExt cx="4825192" cy="13044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25192" cy="1304494"/>
            </a:xfrm>
            <a:custGeom>
              <a:avLst/>
              <a:gdLst/>
              <a:ahLst/>
              <a:cxnLst/>
              <a:rect r="r" b="b" t="t" l="l"/>
              <a:pathLst>
                <a:path h="1304494" w="4825192">
                  <a:moveTo>
                    <a:pt x="0" y="0"/>
                  </a:moveTo>
                  <a:lnTo>
                    <a:pt x="4825192" y="0"/>
                  </a:lnTo>
                  <a:lnTo>
                    <a:pt x="4825192" y="1304494"/>
                  </a:lnTo>
                  <a:lnTo>
                    <a:pt x="0" y="1304494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25192" cy="1342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537B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94007" y="1444947"/>
            <a:ext cx="3738420" cy="7397107"/>
            <a:chOff x="0" y="0"/>
            <a:chExt cx="2620010" cy="5184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4908677" y="1444947"/>
            <a:ext cx="3738420" cy="7397107"/>
            <a:chOff x="0" y="0"/>
            <a:chExt cx="2620010" cy="51841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2" r="0" b="-22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13342345" y="1444947"/>
            <a:ext cx="3738420" cy="7397107"/>
            <a:chOff x="0" y="0"/>
            <a:chExt cx="2620010" cy="51841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2" r="0" b="-22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6295399" y="2618713"/>
            <a:ext cx="5979039" cy="5979039"/>
          </a:xfrm>
          <a:custGeom>
            <a:avLst/>
            <a:gdLst/>
            <a:ahLst/>
            <a:cxnLst/>
            <a:rect r="r" b="b" t="t" l="l"/>
            <a:pathLst>
              <a:path h="5979039" w="5979039">
                <a:moveTo>
                  <a:pt x="0" y="0"/>
                </a:moveTo>
                <a:lnTo>
                  <a:pt x="5979039" y="0"/>
                </a:lnTo>
                <a:lnTo>
                  <a:pt x="5979039" y="5979039"/>
                </a:lnTo>
                <a:lnTo>
                  <a:pt x="0" y="59790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7695136" y="2473342"/>
            <a:ext cx="5117195" cy="4412602"/>
            <a:chOff x="0" y="0"/>
            <a:chExt cx="8096559" cy="698173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97830" cy="6981734"/>
            </a:xfrm>
            <a:custGeom>
              <a:avLst/>
              <a:gdLst/>
              <a:ahLst/>
              <a:cxnLst/>
              <a:rect r="r" b="b" t="t" l="l"/>
              <a:pathLst>
                <a:path h="6981734" w="8097830">
                  <a:moveTo>
                    <a:pt x="7631816" y="0"/>
                  </a:moveTo>
                  <a:lnTo>
                    <a:pt x="464743" y="0"/>
                  </a:lnTo>
                  <a:cubicBezTo>
                    <a:pt x="207272" y="0"/>
                    <a:pt x="0" y="178732"/>
                    <a:pt x="0" y="400752"/>
                  </a:cubicBezTo>
                  <a:lnTo>
                    <a:pt x="0" y="6582380"/>
                  </a:lnTo>
                  <a:cubicBezTo>
                    <a:pt x="0" y="6803002"/>
                    <a:pt x="207272" y="6981734"/>
                    <a:pt x="464743" y="6981734"/>
                  </a:cubicBezTo>
                  <a:lnTo>
                    <a:pt x="7633436" y="6981734"/>
                  </a:lnTo>
                  <a:cubicBezTo>
                    <a:pt x="7889287" y="6981734"/>
                    <a:pt x="8097830" y="6803002"/>
                    <a:pt x="8097830" y="6580983"/>
                  </a:cubicBezTo>
                  <a:lnTo>
                    <a:pt x="8097830" y="400752"/>
                  </a:lnTo>
                  <a:cubicBezTo>
                    <a:pt x="8096559" y="178732"/>
                    <a:pt x="7889287" y="0"/>
                    <a:pt x="7631816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270" r="0" b="-227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4583744" y="9042082"/>
            <a:ext cx="438828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Klar</a:t>
            </a: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es, minimalistisches Design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8398" y="812482"/>
            <a:ext cx="424963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Ü</a:t>
            </a: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bersichtliche Analyse-Karten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823260" y="1874047"/>
            <a:ext cx="322498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</a:t>
            </a: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eraktive Diagramme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152694" y="9013503"/>
            <a:ext cx="649174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Komfortabl</a:t>
            </a: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es Abwesenheitsmanagement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1070965" y="2189107"/>
            <a:ext cx="4627172" cy="9155655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5394" t="0" r="-5394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1427266">
            <a:off x="13087355" y="2339569"/>
            <a:ext cx="3556881" cy="7037901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2" r="0" b="-22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8700" y="1787834"/>
            <a:ext cx="9200674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Beyond </a:t>
            </a:r>
            <a:r>
              <a:rPr lang="en-US" b="true" sz="6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good enough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4031589"/>
            <a:ext cx="9583279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9E9E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Dark Mode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9E9E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Optimierung der Datenbankabfrage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E9E9E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Weitgehende </a:t>
            </a:r>
            <a:r>
              <a:rPr lang="en-US" b="true" sz="3399">
                <a:solidFill>
                  <a:srgbClr val="E9E9E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Vermeidung von “Polling”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>
                <a:solidFill>
                  <a:srgbClr val="E9E9E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Persönliche Einstellungen individuell anpassen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52539" y="2094996"/>
            <a:ext cx="4982921" cy="73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6"/>
              </a:lnSpc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Live-Demo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27450" y="6008637"/>
            <a:ext cx="157663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06060"/>
                </a:solidFill>
                <a:latin typeface="Poppins Bold"/>
                <a:ea typeface="Poppins Bold"/>
                <a:cs typeface="Poppins Bold"/>
                <a:sym typeface="Poppins Bold"/>
              </a:rPr>
              <a:t>Login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80483" y="6167705"/>
            <a:ext cx="2344113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06060"/>
                </a:solidFill>
                <a:latin typeface="Poppins Bold"/>
                <a:ea typeface="Poppins Bold"/>
                <a:cs typeface="Poppins Bold"/>
                <a:sym typeface="Poppins Bold"/>
              </a:rPr>
              <a:t>Live-Sensordaten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02859" y="6008637"/>
            <a:ext cx="213850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06060"/>
                </a:solidFill>
                <a:latin typeface="Poppins Bold"/>
                <a:ea typeface="Poppins Bold"/>
                <a:cs typeface="Poppins Bold"/>
                <a:sym typeface="Poppins Bold"/>
              </a:rPr>
              <a:t>Warnungen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08193" y="6008637"/>
            <a:ext cx="2150884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606060"/>
                </a:solidFill>
                <a:latin typeface="Poppins Bold"/>
                <a:ea typeface="Poppins Bold"/>
                <a:cs typeface="Poppins Bold"/>
                <a:sym typeface="Poppins Bold"/>
              </a:rPr>
              <a:t>Abwesenheit &amp; Datenschutz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676891" y="4804625"/>
            <a:ext cx="677751" cy="67775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767711" y="4980622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313664" y="4804625"/>
            <a:ext cx="677751" cy="67775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404484" y="4980622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433234" y="4884164"/>
            <a:ext cx="677751" cy="67775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524054" y="5060162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644760" y="4884164"/>
            <a:ext cx="677751" cy="67775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735580" y="5060162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48802" y="7301218"/>
            <a:ext cx="20585603" cy="5264356"/>
            <a:chOff x="0" y="0"/>
            <a:chExt cx="4274726" cy="10931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093176"/>
            </a:xfrm>
            <a:custGeom>
              <a:avLst/>
              <a:gdLst/>
              <a:ahLst/>
              <a:cxnLst/>
              <a:rect r="r" b="b" t="t" l="l"/>
              <a:pathLst>
                <a:path h="1093176" w="4274726">
                  <a:moveTo>
                    <a:pt x="2137363" y="0"/>
                  </a:moveTo>
                  <a:cubicBezTo>
                    <a:pt x="956930" y="0"/>
                    <a:pt x="0" y="244716"/>
                    <a:pt x="0" y="546588"/>
                  </a:cubicBezTo>
                  <a:cubicBezTo>
                    <a:pt x="0" y="848460"/>
                    <a:pt x="956930" y="1093176"/>
                    <a:pt x="2137363" y="1093176"/>
                  </a:cubicBezTo>
                  <a:cubicBezTo>
                    <a:pt x="3317796" y="1093176"/>
                    <a:pt x="4274726" y="848460"/>
                    <a:pt x="4274726" y="546588"/>
                  </a:cubicBezTo>
                  <a:cubicBezTo>
                    <a:pt x="4274726" y="244716"/>
                    <a:pt x="3317796" y="0"/>
                    <a:pt x="2137363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00756" y="64385"/>
              <a:ext cx="3473215" cy="926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7406341" y="4044667"/>
            <a:ext cx="3475318" cy="6876514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0329460" y="5143500"/>
            <a:ext cx="2919979" cy="5777681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4175" t="0" r="-4175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5038561" y="5143500"/>
            <a:ext cx="2919979" cy="5777681"/>
            <a:chOff x="0" y="0"/>
            <a:chExt cx="2620010" cy="5184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2" r="0" b="-22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2697923" y="6476535"/>
            <a:ext cx="2246277" cy="4444645"/>
            <a:chOff x="0" y="0"/>
            <a:chExt cx="2620010" cy="51841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4582" t="0" r="-4582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5" id="45"/>
          <p:cNvGrpSpPr>
            <a:grpSpLocks noChangeAspect="true"/>
          </p:cNvGrpSpPr>
          <p:nvPr/>
        </p:nvGrpSpPr>
        <p:grpSpPr>
          <a:xfrm rot="0">
            <a:off x="3343800" y="6476535"/>
            <a:ext cx="2246277" cy="4444645"/>
            <a:chOff x="0" y="0"/>
            <a:chExt cx="2620010" cy="51841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2" r="0" b="-22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3902954" y="1420400"/>
            <a:ext cx="10482091" cy="2137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83"/>
              </a:lnSpc>
              <a:spcBef>
                <a:spcPct val="0"/>
              </a:spcBef>
            </a:pPr>
            <a:r>
              <a:rPr lang="en-US" b="true" sz="11845">
                <a:solidFill>
                  <a:srgbClr val="0097B2"/>
                </a:solidFill>
                <a:latin typeface="Poppins Bold"/>
                <a:ea typeface="Poppins Bold"/>
                <a:cs typeface="Poppins Bold"/>
                <a:sym typeface="Poppins Bold"/>
              </a:rPr>
              <a:t>Fragen?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03903" y="788035"/>
            <a:ext cx="478312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Universität Innsbruck · Informatik &amp; Quality Engineering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105637" y="797560"/>
            <a:ext cx="97846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Oleh Sichko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144770" y="797560"/>
            <a:ext cx="1735295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Matthias Tiefenthaler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757683" y="797560"/>
            <a:ext cx="1016875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Joshua Rebay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298155" y="797560"/>
            <a:ext cx="14595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Jakob Salomon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669914" y="797560"/>
            <a:ext cx="14595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Diana Postupaieva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DAHKx-e3FqU</dc:identifier>
  <dcterms:modified xsi:type="dcterms:W3CDTF">2011-08-01T06:04:30Z</dcterms:modified>
  <cp:revision>1</cp:revision>
  <dc:title>Blue Modern Mobile Application Presentation</dc:title>
</cp:coreProperties>
</file>